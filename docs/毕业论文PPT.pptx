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71" r:id="rId8"/>
    <p:sldId id="273" r:id="rId9"/>
    <p:sldId id="272" r:id="rId10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1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2250" b="1">
                <a:solidFill>
                  <a:srgbClr val="153B5C"/>
                </a:solidFill>
                <a:latin typeface="PingFang SC"/>
                <a:ea typeface="PingFang SC"/>
              </a:rPr>
              <a:t>研究背景：为什么需要闭环正念干预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10881360" y="64465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40000" lnSpcReduction="20000"/>
          </a:bodyPr>
          <a:lstStyle/>
          <a:p>
            <a:pPr algn="r"/>
            <a:r>
              <a:rPr lang="zh-CN" sz="950">
                <a:solidFill>
                  <a:srgbClr val="8A93A3"/>
                </a:solidFill>
                <a:latin typeface="PingFang SC"/>
                <a:ea typeface="PingFang SC"/>
              </a:rPr>
              <a:t>2/14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822960" y="1234440"/>
            <a:ext cx="0" cy="3017520"/>
          </a:xfrm>
          <a:prstGeom prst="line">
            <a:avLst/>
          </a:prstGeom>
          <a:ln w="18000">
            <a:solidFill>
              <a:srgbClr val="153B5C"/>
            </a:solidFill>
          </a:ln>
        </p:spPr>
      </p:cxnSp>
      <p:sp>
        <p:nvSpPr>
          <p:cNvPr id="15" name="TextBox 15"/>
          <p:cNvSpPr txBox="1"/>
          <p:nvPr/>
        </p:nvSpPr>
        <p:spPr>
          <a:xfrm>
            <a:off x="1024128" y="1216152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7500" lnSpcReduction="20000"/>
          </a:bodyPr>
          <a:lstStyle/>
          <a:p>
            <a:pPr algn="l"/>
            <a:r>
              <a:rPr lang="zh-CN" sz="1650" b="1">
                <a:solidFill>
                  <a:srgbClr val="153B5C"/>
                </a:solidFill>
                <a:latin typeface="PingFang SC"/>
                <a:ea typeface="PingFang SC"/>
              </a:rPr>
              <a:t>情绪调节需求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128" y="1737360"/>
            <a:ext cx="48920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600">
                <a:solidFill>
                  <a:srgbClr val="111827"/>
                </a:solidFill>
                <a:latin typeface="PingFang SC"/>
                <a:ea typeface="PingFang SC"/>
              </a:rPr>
              <a:t>• 焦虑、抑郁和慢性压力增加，情绪调节成为心理健康的重要能力</a:t>
            </a:r>
          </a:p>
          <a:p>
            <a:pPr algn="l"/>
            <a:r>
              <a:rPr lang="zh-CN" sz="1600">
                <a:solidFill>
                  <a:srgbClr val="111827"/>
                </a:solidFill>
                <a:latin typeface="PingFang SC"/>
                <a:ea typeface="PingFang SC"/>
              </a:rPr>
              <a:t>• 正念干预通过当下觉察和非评判态度，帮助降低情绪反应性</a:t>
            </a:r>
          </a:p>
          <a:p>
            <a:pPr algn="l"/>
            <a:r>
              <a:rPr lang="zh-CN" sz="1600">
                <a:solidFill>
                  <a:srgbClr val="111827"/>
                </a:solidFill>
                <a:latin typeface="PingFang SC"/>
                <a:ea typeface="PingFang SC"/>
              </a:rPr>
              <a:t>• 对初学者而言，走神和练习状态不可见是常见障碍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6400800" y="1234440"/>
            <a:ext cx="0" cy="3017520"/>
          </a:xfrm>
          <a:prstGeom prst="line">
            <a:avLst/>
          </a:prstGeom>
          <a:ln w="18000">
            <a:solidFill>
              <a:srgbClr val="2F6F5E"/>
            </a:solidFill>
          </a:ln>
        </p:spPr>
      </p:cxnSp>
      <p:sp>
        <p:nvSpPr>
          <p:cNvPr id="18" name="TextBox 18"/>
          <p:cNvSpPr txBox="1"/>
          <p:nvPr/>
        </p:nvSpPr>
        <p:spPr>
          <a:xfrm>
            <a:off x="6601968" y="1216152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7500" lnSpcReduction="20000"/>
          </a:bodyPr>
          <a:lstStyle/>
          <a:p>
            <a:pPr algn="l"/>
            <a:r>
              <a:rPr lang="zh-CN" sz="1650" b="1">
                <a:solidFill>
                  <a:srgbClr val="2F6F5E"/>
                </a:solidFill>
                <a:latin typeface="PingFang SC"/>
                <a:ea typeface="PingFang SC"/>
              </a:rPr>
              <a:t>技术机会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01968" y="1737360"/>
            <a:ext cx="470916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600" dirty="0">
                <a:solidFill>
                  <a:srgbClr val="111827"/>
                </a:solidFill>
                <a:latin typeface="PingFang SC"/>
                <a:ea typeface="PingFang SC"/>
              </a:rPr>
              <a:t>• EEG 与心率可提供连续的客观生理指标</a:t>
            </a:r>
          </a:p>
          <a:p>
            <a:pPr algn="l"/>
            <a:r>
              <a:rPr lang="zh-CN" sz="1600" dirty="0">
                <a:solidFill>
                  <a:srgbClr val="111827"/>
                </a:solidFill>
                <a:latin typeface="PingFang SC"/>
                <a:ea typeface="PingFang SC"/>
              </a:rPr>
              <a:t>• VR 可提供沉浸式、低干扰的练习场景</a:t>
            </a:r>
          </a:p>
          <a:p>
            <a:pPr algn="l"/>
            <a:r>
              <a:rPr lang="zh-CN" sz="1600" dirty="0">
                <a:solidFill>
                  <a:srgbClr val="111827"/>
                </a:solidFill>
                <a:latin typeface="PingFang SC"/>
                <a:ea typeface="PingFang SC"/>
              </a:rPr>
              <a:t>• 闭环反馈使系统从事后评估走向实时调节</a:t>
            </a:r>
          </a:p>
        </p:txBody>
      </p:sp>
      <p:sp>
        <p:nvSpPr>
          <p:cNvPr id="20" name="Rect 20"/>
          <p:cNvSpPr/>
          <p:nvPr/>
        </p:nvSpPr>
        <p:spPr>
          <a:xfrm>
            <a:off x="1325880" y="4983480"/>
            <a:ext cx="9509760" cy="658368"/>
          </a:xfrm>
          <a:prstGeom prst="rect">
            <a:avLst/>
          </a:prstGeom>
          <a:solidFill>
            <a:srgbClr val="EEF4FA"/>
          </a:solidFill>
          <a:ln w="12700">
            <a:solidFill>
              <a:srgbClr val="D9DEE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490472" y="5148072"/>
            <a:ext cx="9180576" cy="402335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400" b="1">
                <a:solidFill>
                  <a:srgbClr val="153B5C"/>
                </a:solidFill>
                <a:latin typeface="PingFang SC"/>
                <a:ea typeface="PingFang SC"/>
              </a:rPr>
              <a:t>目标：把传统静态正念练习升级为可感知、可评估、可反馈的闭环干预过程。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2250" b="1">
                <a:solidFill>
                  <a:srgbClr val="153B5C"/>
                </a:solidFill>
                <a:latin typeface="PingFang SC"/>
                <a:ea typeface="PingFang SC"/>
              </a:rPr>
              <a:t>传统正念干预的限制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10881360" y="64465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40000" lnSpcReduction="20000"/>
          </a:bodyPr>
          <a:lstStyle/>
          <a:p>
            <a:pPr algn="r"/>
            <a:r>
              <a:rPr lang="zh-CN" sz="950">
                <a:solidFill>
                  <a:srgbClr val="8A93A3"/>
                </a:solidFill>
                <a:latin typeface="PingFang SC"/>
                <a:ea typeface="PingFang SC"/>
              </a:rPr>
              <a:t>3/14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8680" y="130759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2500" lnSpcReduction="20000"/>
          </a:bodyPr>
          <a:lstStyle/>
          <a:p>
            <a:pPr algn="l"/>
            <a:r>
              <a:rPr lang="zh-CN" sz="1750" b="1">
                <a:solidFill>
                  <a:srgbClr val="153B5C"/>
                </a:solidFill>
                <a:latin typeface="PingFang SC"/>
                <a:ea typeface="PingFang SC"/>
              </a:rPr>
              <a:t>主观性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2514600" y="1234440"/>
            <a:ext cx="0" cy="749808"/>
          </a:xfrm>
          <a:prstGeom prst="line">
            <a:avLst/>
          </a:prstGeom>
          <a:ln w="13000">
            <a:solidFill>
              <a:srgbClr val="D9DEE7"/>
            </a:solidFill>
          </a:ln>
        </p:spPr>
      </p:cxnSp>
      <p:sp>
        <p:nvSpPr>
          <p:cNvPr id="16" name="TextBox 16"/>
          <p:cNvSpPr txBox="1"/>
          <p:nvPr/>
        </p:nvSpPr>
        <p:spPr>
          <a:xfrm>
            <a:off x="2788920" y="132588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500">
                <a:solidFill>
                  <a:srgbClr val="111827"/>
                </a:solidFill>
                <a:latin typeface="PingFang SC"/>
                <a:ea typeface="PingFang SC"/>
              </a:rPr>
              <a:t>依赖问卷、自我报告和治疗师观察，缺少连续客观标准。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8680" y="260604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2500" lnSpcReduction="20000"/>
          </a:bodyPr>
          <a:lstStyle/>
          <a:p>
            <a:pPr algn="l"/>
            <a:r>
              <a:rPr lang="zh-CN" sz="1750" b="1">
                <a:solidFill>
                  <a:srgbClr val="153B5C"/>
                </a:solidFill>
                <a:latin typeface="PingFang SC"/>
                <a:ea typeface="PingFang SC"/>
              </a:rPr>
              <a:t>开环性</a:t>
            </a:r>
          </a:p>
        </p:txBody>
      </p:sp>
      <p:cxnSp>
        <p:nvCxnSpPr>
          <p:cNvPr id="18" name="Line 18"/>
          <p:cNvCxnSpPr/>
          <p:nvPr/>
        </p:nvCxnSpPr>
        <p:spPr>
          <a:xfrm>
            <a:off x="2514600" y="2532888"/>
            <a:ext cx="0" cy="749808"/>
          </a:xfrm>
          <a:prstGeom prst="line">
            <a:avLst/>
          </a:prstGeom>
          <a:ln w="13000">
            <a:solidFill>
              <a:srgbClr val="D9DEE7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2788920" y="262432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500" dirty="0">
                <a:solidFill>
                  <a:srgbClr val="111827"/>
                </a:solidFill>
                <a:latin typeface="PingFang SC"/>
                <a:ea typeface="PingFang SC"/>
              </a:rPr>
              <a:t>用户走神或状态下降时，系统无法实时识别和响应。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8680" y="3904487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92500" lnSpcReduction="20000"/>
          </a:bodyPr>
          <a:lstStyle/>
          <a:p>
            <a:pPr algn="l"/>
            <a:r>
              <a:rPr lang="zh-CN" sz="1750" b="1">
                <a:solidFill>
                  <a:srgbClr val="153B5C"/>
                </a:solidFill>
                <a:latin typeface="PingFang SC"/>
                <a:ea typeface="PingFang SC"/>
              </a:rPr>
              <a:t>可扩展性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2514600" y="3831335"/>
            <a:ext cx="0" cy="749809"/>
          </a:xfrm>
          <a:prstGeom prst="line">
            <a:avLst/>
          </a:prstGeom>
          <a:ln w="13000">
            <a:solidFill>
              <a:srgbClr val="D9DEE7"/>
            </a:solidFill>
          </a:ln>
        </p:spPr>
      </p:cxnSp>
      <p:sp>
        <p:nvSpPr>
          <p:cNvPr id="22" name="TextBox 22"/>
          <p:cNvSpPr txBox="1"/>
          <p:nvPr/>
        </p:nvSpPr>
        <p:spPr>
          <a:xfrm>
            <a:off x="2788920" y="3922775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500">
                <a:solidFill>
                  <a:srgbClr val="111827"/>
                </a:solidFill>
                <a:latin typeface="PingFang SC"/>
                <a:ea typeface="PingFang SC"/>
              </a:rPr>
              <a:t>专业指导资源有限，难以长期覆盖不同个体和远程场景。</a:t>
            </a:r>
          </a:p>
        </p:txBody>
      </p:sp>
      <p:sp>
        <p:nvSpPr>
          <p:cNvPr id="23" name="Rect 23"/>
          <p:cNvSpPr/>
          <p:nvPr/>
        </p:nvSpPr>
        <p:spPr>
          <a:xfrm>
            <a:off x="1005840" y="5349240"/>
            <a:ext cx="10058400" cy="594360"/>
          </a:xfrm>
          <a:prstGeom prst="rect">
            <a:avLst/>
          </a:prstGeom>
          <a:solidFill>
            <a:srgbClr val="EEF4FA"/>
          </a:solidFill>
          <a:ln w="12700">
            <a:solidFill>
              <a:srgbClr val="D9DEE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170432" y="5513831"/>
            <a:ext cx="9729216" cy="3383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lnSpcReduction="10000"/>
          </a:bodyPr>
          <a:lstStyle/>
          <a:p>
            <a:pPr algn="l"/>
            <a:r>
              <a:rPr lang="zh-CN" sz="1400" b="1">
                <a:solidFill>
                  <a:srgbClr val="153B5C"/>
                </a:solidFill>
                <a:latin typeface="PingFang SC"/>
                <a:ea typeface="PingFang SC"/>
              </a:rPr>
              <a:t>因此，我们首先建立了一个基于 EEG、心率和 VR 反馈的闭环正念干预框架。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2250" b="1">
                <a:solidFill>
                  <a:srgbClr val="153B5C"/>
                </a:solidFill>
                <a:latin typeface="PingFang SC"/>
                <a:ea typeface="PingFang SC"/>
              </a:rPr>
              <a:t>已有工作：闭环 EEG-VR 正念干预框架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10881360" y="64465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40000" lnSpcReduction="20000"/>
          </a:bodyPr>
          <a:lstStyle/>
          <a:p>
            <a:pPr algn="r"/>
            <a:r>
              <a:rPr lang="zh-CN" sz="950">
                <a:solidFill>
                  <a:srgbClr val="8A93A3"/>
                </a:solidFill>
                <a:latin typeface="PingFang SC"/>
                <a:ea typeface="PingFang SC"/>
              </a:rPr>
              <a:t>4/14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1520" y="57150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250">
                <a:solidFill>
                  <a:srgbClr val="4B5563"/>
                </a:solidFill>
                <a:latin typeface="PingFang SC"/>
                <a:ea typeface="PingFang SC"/>
              </a:rPr>
              <a:t>系统流程：sensing → assessment → feedback/regulation → re-sensing，实现从开环练习到闭环干预。</a:t>
            </a:r>
          </a:p>
        </p:txBody>
      </p:sp>
      <p:pic>
        <p:nvPicPr>
          <p:cNvPr id="14" name="protoco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14" y="932688"/>
            <a:ext cx="984169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2250" b="1">
                <a:solidFill>
                  <a:srgbClr val="153B5C"/>
                </a:solidFill>
                <a:latin typeface="PingFang SC"/>
                <a:ea typeface="PingFang SC"/>
              </a:rPr>
              <a:t>当前规则闭环如何做反馈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10881360" y="64465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40000" lnSpcReduction="20000"/>
          </a:bodyPr>
          <a:lstStyle/>
          <a:p>
            <a:pPr algn="r"/>
            <a:r>
              <a:rPr lang="zh-CN" sz="950">
                <a:solidFill>
                  <a:srgbClr val="8A93A3"/>
                </a:solidFill>
                <a:latin typeface="PingFang SC"/>
                <a:ea typeface="PingFang SC"/>
              </a:rPr>
              <a:t>6/14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7360920" y="1143000"/>
            <a:ext cx="0" cy="2240280"/>
          </a:xfrm>
          <a:prstGeom prst="line">
            <a:avLst/>
          </a:prstGeom>
          <a:ln w="18000">
            <a:solidFill>
              <a:srgbClr val="B56A16"/>
            </a:solidFill>
          </a:ln>
        </p:spPr>
      </p:cxnSp>
      <p:sp>
        <p:nvSpPr>
          <p:cNvPr id="16" name="TextBox 16"/>
          <p:cNvSpPr txBox="1"/>
          <p:nvPr/>
        </p:nvSpPr>
        <p:spPr>
          <a:xfrm>
            <a:off x="756208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7500" lnSpcReduction="20000"/>
          </a:bodyPr>
          <a:lstStyle/>
          <a:p>
            <a:pPr algn="l"/>
            <a:r>
              <a:rPr lang="zh-CN" sz="1650" b="1">
                <a:solidFill>
                  <a:srgbClr val="B56A16"/>
                </a:solidFill>
                <a:latin typeface="PingFang SC"/>
                <a:ea typeface="PingFang SC"/>
              </a:rPr>
              <a:t>当前策略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2088" y="1645920"/>
            <a:ext cx="3611880" cy="1737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600" dirty="0">
                <a:solidFill>
                  <a:srgbClr val="111827"/>
                </a:solidFill>
                <a:latin typeface="PingFang SC"/>
                <a:ea typeface="PingFang SC"/>
              </a:rPr>
              <a:t>• 用固定公式融合 EEG、心率与主观评分</a:t>
            </a:r>
          </a:p>
          <a:p>
            <a:pPr algn="l"/>
            <a:r>
              <a:rPr lang="zh-CN" sz="1600" dirty="0">
                <a:solidFill>
                  <a:srgbClr val="111827"/>
                </a:solidFill>
                <a:latin typeface="PingFang SC"/>
                <a:ea typeface="PingFang SC"/>
              </a:rPr>
              <a:t>• 用固定阈值判断状态提升或下降</a:t>
            </a:r>
          </a:p>
          <a:p>
            <a:pPr algn="l"/>
            <a:r>
              <a:rPr lang="zh-CN" sz="1600" dirty="0">
                <a:solidFill>
                  <a:srgbClr val="111827"/>
                </a:solidFill>
                <a:latin typeface="PingFang SC"/>
                <a:ea typeface="PingFang SC"/>
              </a:rPr>
              <a:t>• 将判断结果映射为火焰扩大或缩小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37560" y="496519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25000" lnSpcReduction="20000"/>
          </a:bodyPr>
          <a:lstStyle/>
          <a:p>
            <a:pPr algn="l"/>
            <a:r>
              <a:rPr lang="zh-CN" sz="1700">
                <a:solidFill>
                  <a:srgbClr val="4B5563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76288" y="4822146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350" b="1">
                <a:solidFill>
                  <a:srgbClr val="111827"/>
                </a:solidFill>
                <a:latin typeface="PingFang SC"/>
                <a:ea typeface="PingFang SC"/>
              </a:rPr>
              <a:t>这个版本的意义：已经证明“闭环反馈”是可行且有效的，但决策规则仍然较固定。</a:t>
            </a:r>
          </a:p>
        </p:txBody>
      </p:sp>
      <p:pic>
        <p:nvPicPr>
          <p:cNvPr id="14" name="closedloop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92" y="987552"/>
            <a:ext cx="5371896" cy="3429000"/>
          </a:xfrm>
          <a:prstGeom prst="rect">
            <a:avLst/>
          </a:prstGeom>
        </p:spPr>
      </p:pic>
      <p:pic>
        <p:nvPicPr>
          <p:cNvPr id="18" name="rea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635" y="4709160"/>
            <a:ext cx="1412409" cy="868680"/>
          </a:xfrm>
          <a:prstGeom prst="rect">
            <a:avLst/>
          </a:prstGeom>
        </p:spPr>
      </p:pic>
      <p:pic>
        <p:nvPicPr>
          <p:cNvPr id="20" name="rea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395" y="4709160"/>
            <a:ext cx="1446729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2250" b="1">
                <a:solidFill>
                  <a:srgbClr val="153B5C"/>
                </a:solidFill>
                <a:latin typeface="PingFang SC"/>
                <a:ea typeface="PingFang SC"/>
              </a:rPr>
              <a:t>已有实验验证：规则闭环是有效的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10881360" y="64465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40000" lnSpcReduction="20000"/>
          </a:bodyPr>
          <a:lstStyle/>
          <a:p>
            <a:pPr algn="r"/>
            <a:r>
              <a:rPr lang="zh-CN" sz="950">
                <a:solidFill>
                  <a:srgbClr val="8A93A3"/>
                </a:solidFill>
                <a:latin typeface="PingFang SC"/>
                <a:ea typeface="PingFang SC"/>
              </a:rPr>
              <a:t>7/14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0393" y="4906745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1120" b="1">
                <a:solidFill>
                  <a:srgbClr val="153B5C"/>
                </a:solidFill>
                <a:latin typeface="PingFang SC"/>
                <a:ea typeface="PingFang SC"/>
              </a:rPr>
              <a:t>FFMQ 提升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42465" y="4906745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1120" b="1">
                <a:solidFill>
                  <a:srgbClr val="153B5C"/>
                </a:solidFill>
                <a:latin typeface="PingFang SC"/>
                <a:ea typeface="PingFang SC"/>
              </a:rPr>
              <a:t>DERS 下降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4537" y="4906745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1120" b="1">
                <a:solidFill>
                  <a:srgbClr val="153B5C"/>
                </a:solidFill>
                <a:latin typeface="PingFang SC"/>
                <a:ea typeface="PingFang SC"/>
              </a:rPr>
              <a:t>Alpha / Theta 上升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66609" y="4906745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1120" b="1">
                <a:solidFill>
                  <a:srgbClr val="153B5C"/>
                </a:solidFill>
                <a:latin typeface="PingFang SC"/>
                <a:ea typeface="PingFang SC"/>
              </a:rPr>
              <a:t>心率下降</a:t>
            </a:r>
          </a:p>
        </p:txBody>
      </p:sp>
      <p:sp>
        <p:nvSpPr>
          <p:cNvPr id="23" name="Rect 23"/>
          <p:cNvSpPr/>
          <p:nvPr/>
        </p:nvSpPr>
        <p:spPr>
          <a:xfrm>
            <a:off x="868680" y="5349240"/>
            <a:ext cx="10424160" cy="621792"/>
          </a:xfrm>
          <a:prstGeom prst="rect">
            <a:avLst/>
          </a:prstGeom>
          <a:solidFill>
            <a:srgbClr val="EEF4FA"/>
          </a:solidFill>
          <a:ln w="12700">
            <a:solidFill>
              <a:srgbClr val="D9DEE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033271" y="5513831"/>
            <a:ext cx="1009497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400" b="1">
                <a:solidFill>
                  <a:srgbClr val="153B5C"/>
                </a:solidFill>
                <a:latin typeface="PingFang SC"/>
                <a:ea typeface="PingFang SC"/>
              </a:rPr>
              <a:t>结论：闭环 EEG-VR 正念干预可以提升正念能力、改善情绪调节，并产生可观察的神经和生理变化。</a:t>
            </a:r>
          </a:p>
        </p:txBody>
      </p:sp>
      <p:pic>
        <p:nvPicPr>
          <p:cNvPr id="14" name="workflow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924" y="804673"/>
            <a:ext cx="6416756" cy="2061479"/>
          </a:xfrm>
          <a:prstGeom prst="rect">
            <a:avLst/>
          </a:prstGeom>
        </p:spPr>
      </p:pic>
      <p:pic>
        <p:nvPicPr>
          <p:cNvPr id="15" name="Total_Mindfulness_Sc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93" y="3160240"/>
            <a:ext cx="1600200" cy="1600200"/>
          </a:xfrm>
          <a:prstGeom prst="rect">
            <a:avLst/>
          </a:prstGeom>
        </p:spPr>
      </p:pic>
      <p:pic>
        <p:nvPicPr>
          <p:cNvPr id="17" name="ders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464" y="3300532"/>
            <a:ext cx="2423160" cy="1310942"/>
          </a:xfrm>
          <a:prstGeom prst="rect">
            <a:avLst/>
          </a:prstGeom>
        </p:spPr>
      </p:pic>
      <p:pic>
        <p:nvPicPr>
          <p:cNvPr id="19" name="eegfea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537" y="3141952"/>
            <a:ext cx="1894773" cy="1600200"/>
          </a:xfrm>
          <a:prstGeom prst="rect">
            <a:avLst/>
          </a:prstGeom>
        </p:spPr>
      </p:pic>
      <p:pic>
        <p:nvPicPr>
          <p:cNvPr id="21" name="hr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447" y="3358041"/>
            <a:ext cx="2423160" cy="11680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/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sz="2250" b="1">
                <a:solidFill>
                  <a:srgbClr val="153B5C"/>
                </a:solidFill>
                <a:latin typeface="PingFang SC"/>
                <a:ea typeface="PingFang SC"/>
              </a:rPr>
              <a:t>新的问题：闭环不等于智能决策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10881360" y="64465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40000" lnSpcReduction="20000"/>
          </a:bodyPr>
          <a:lstStyle/>
          <a:p>
            <a:pPr algn="r"/>
            <a:r>
              <a:rPr lang="zh-CN" sz="950">
                <a:solidFill>
                  <a:srgbClr val="8A93A3"/>
                </a:solidFill>
                <a:latin typeface="PingFang SC"/>
                <a:ea typeface="PingFang SC"/>
              </a:rPr>
              <a:t>8/14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8680" y="1097280"/>
            <a:ext cx="1042416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/>
            <a:r>
              <a:rPr lang="zh-CN" sz="1900" b="1">
                <a:solidFill>
                  <a:srgbClr val="111827"/>
                </a:solidFill>
                <a:latin typeface="PingFang SC"/>
                <a:ea typeface="PingFang SC"/>
              </a:rPr>
              <a:t>当前系统虽然是闭环的，但关键反馈策略仍然由固定公式和固定阈值决定。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1051560" y="2148840"/>
            <a:ext cx="0" cy="2926080"/>
          </a:xfrm>
          <a:prstGeom prst="line">
            <a:avLst/>
          </a:prstGeom>
          <a:ln w="18000">
            <a:solidFill>
              <a:srgbClr val="B56A16"/>
            </a:solidFill>
          </a:ln>
        </p:spPr>
      </p:cxnSp>
      <p:sp>
        <p:nvSpPr>
          <p:cNvPr id="16" name="TextBox 16"/>
          <p:cNvSpPr txBox="1"/>
          <p:nvPr/>
        </p:nvSpPr>
        <p:spPr>
          <a:xfrm>
            <a:off x="1252728" y="2130552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pPr algn="l"/>
            <a:r>
              <a:rPr lang="zh-CN" sz="1650" b="1" dirty="0">
                <a:solidFill>
                  <a:srgbClr val="B56A16"/>
                </a:solidFill>
                <a:latin typeface="PingFang SC"/>
                <a:ea typeface="PingFang SC"/>
              </a:rPr>
              <a:t>固定规则的局限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2727" y="2651760"/>
            <a:ext cx="5038333" cy="2423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只分析设计在公式中的特征值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(alpha/theta/</a:t>
            </a:r>
            <a:r>
              <a:rPr lang="en-US" altLang="zh-CN" sz="1600" dirty="0" err="1">
                <a:solidFill>
                  <a:srgbClr val="111827"/>
                </a:solidFill>
                <a:latin typeface="PingFang SC"/>
                <a:ea typeface="PingFang SC"/>
              </a:rPr>
              <a:t>hr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)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，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EEG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的特征空间没有充分利用。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基于固定阈值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(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上升超过多少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)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判断是否基于反馈，但不同的人可能有不同的正念上升水平。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只根据上一个周期和最好周期进行判断，没有全局历史。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在正念结束之后，没有一个结构化的报告，总结此次训练的过程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(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水平变化历史、建议等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)</a:t>
            </a:r>
          </a:p>
          <a:p>
            <a:pPr algn="l">
              <a:spcBef>
                <a:spcPts val="600"/>
              </a:spcBef>
              <a:buSzPct val="80000"/>
            </a:pP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endParaRPr lang="zh-CN" sz="1600" dirty="0">
              <a:solidFill>
                <a:srgbClr val="111827"/>
              </a:solidFill>
              <a:latin typeface="PingFang SC"/>
              <a:ea typeface="PingFang SC"/>
            </a:endParaRPr>
          </a:p>
        </p:txBody>
      </p:sp>
      <p:cxnSp>
        <p:nvCxnSpPr>
          <p:cNvPr id="18" name="Line 18"/>
          <p:cNvCxnSpPr/>
          <p:nvPr/>
        </p:nvCxnSpPr>
        <p:spPr>
          <a:xfrm>
            <a:off x="6492240" y="2148840"/>
            <a:ext cx="0" cy="2926080"/>
          </a:xfrm>
          <a:prstGeom prst="line">
            <a:avLst/>
          </a:prstGeom>
          <a:ln w="18000">
            <a:solidFill>
              <a:srgbClr val="153B5C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6693407" y="2130552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pPr algn="l"/>
            <a:r>
              <a:rPr lang="zh-CN" altLang="en-US" sz="1650" b="1" dirty="0">
                <a:solidFill>
                  <a:srgbClr val="153B5C"/>
                </a:solidFill>
                <a:latin typeface="PingFang SC"/>
                <a:ea typeface="PingFang SC"/>
              </a:rPr>
              <a:t>智能体能够做到</a:t>
            </a:r>
            <a:endParaRPr lang="zh-CN" sz="1650" b="1" dirty="0">
              <a:solidFill>
                <a:srgbClr val="153B5C"/>
              </a:solidFill>
              <a:latin typeface="PingFang SC"/>
              <a:ea typeface="PingFang SC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693407" y="2651760"/>
            <a:ext cx="4343400" cy="2423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endParaRPr lang="zh-CN" altLang="en-US" sz="1600" dirty="0">
              <a:solidFill>
                <a:srgbClr val="111827"/>
              </a:solidFill>
              <a:latin typeface="PingFang SC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156681EF-2A89-C90F-EEB6-371A362D2F8A}"/>
              </a:ext>
            </a:extLst>
          </p:cNvPr>
          <p:cNvSpPr txBox="1"/>
          <p:nvPr/>
        </p:nvSpPr>
        <p:spPr>
          <a:xfrm>
            <a:off x="6693406" y="2610612"/>
            <a:ext cx="5038333" cy="2423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设计工具，分析更多更全面的特征值。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滑动窗口、记忆系统，记录一次正念以来的窗口变化值，根据历史设置阈值。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智能化决策，综合分析多个特征值变化，给予反馈决策。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结构化报告，正念干预结束后，生成变化趋势图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/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分析报告等产物，提升用户体验。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endParaRPr lang="zh-CN" sz="1600" dirty="0">
              <a:solidFill>
                <a:srgbClr val="111827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4EEC-7E32-BD0A-824F-5D9A257F4FD0}"/>
            </a:ext>
          </a:extLst>
        </p:cNvPr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6A5C2152-F08E-5693-F0E2-AF8D75616A9D}"/>
              </a:ext>
            </a:extLst>
          </p:cNvPr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altLang="en-US" sz="2250" b="1" dirty="0">
                <a:solidFill>
                  <a:srgbClr val="153B5C"/>
                </a:solidFill>
                <a:latin typeface="PingFang SC"/>
                <a:ea typeface="PingFang SC"/>
              </a:rPr>
              <a:t>智能体需求分析</a:t>
            </a:r>
            <a:endParaRPr lang="zh-CN" sz="2250" b="1" dirty="0">
              <a:solidFill>
                <a:srgbClr val="153B5C"/>
              </a:solidFill>
              <a:latin typeface="PingFang SC"/>
              <a:ea typeface="PingFang SC"/>
            </a:endParaRPr>
          </a:p>
        </p:txBody>
      </p:sp>
      <p:cxnSp>
        <p:nvCxnSpPr>
          <p:cNvPr id="12" name="Line 12">
            <a:extLst>
              <a:ext uri="{FF2B5EF4-FFF2-40B4-BE49-F238E27FC236}">
                <a16:creationId xmlns:a16="http://schemas.microsoft.com/office/drawing/2014/main" id="{98A3A4E0-1D9B-56C4-C900-213FFED27D62}"/>
              </a:ext>
            </a:extLst>
          </p:cNvPr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B07887F6-4F84-C0E0-A181-20C1A94D74E0}"/>
              </a:ext>
            </a:extLst>
          </p:cNvPr>
          <p:cNvSpPr txBox="1"/>
          <p:nvPr/>
        </p:nvSpPr>
        <p:spPr>
          <a:xfrm>
            <a:off x="10881360" y="64465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40000" lnSpcReduction="20000"/>
          </a:bodyPr>
          <a:lstStyle/>
          <a:p>
            <a:pPr algn="r"/>
            <a:r>
              <a:rPr lang="zh-CN" sz="950">
                <a:solidFill>
                  <a:srgbClr val="8A93A3"/>
                </a:solidFill>
                <a:latin typeface="PingFang SC"/>
                <a:ea typeface="PingFang SC"/>
              </a:rPr>
              <a:t>8/14</a:t>
            </a:r>
          </a:p>
        </p:txBody>
      </p:sp>
      <p:cxnSp>
        <p:nvCxnSpPr>
          <p:cNvPr id="15" name="Line 15">
            <a:extLst>
              <a:ext uri="{FF2B5EF4-FFF2-40B4-BE49-F238E27FC236}">
                <a16:creationId xmlns:a16="http://schemas.microsoft.com/office/drawing/2014/main" id="{21579D6F-1F10-0A49-E2B1-7053755CC235}"/>
              </a:ext>
            </a:extLst>
          </p:cNvPr>
          <p:cNvCxnSpPr>
            <a:cxnSpLocks/>
          </p:cNvCxnSpPr>
          <p:nvPr/>
        </p:nvCxnSpPr>
        <p:spPr>
          <a:xfrm>
            <a:off x="544960" y="998062"/>
            <a:ext cx="0" cy="5150489"/>
          </a:xfrm>
          <a:prstGeom prst="line">
            <a:avLst/>
          </a:prstGeom>
          <a:ln w="18000">
            <a:solidFill>
              <a:srgbClr val="B56A16"/>
            </a:solidFill>
          </a:ln>
        </p:spPr>
      </p:cxnSp>
      <p:sp>
        <p:nvSpPr>
          <p:cNvPr id="17" name="TextBox 17">
            <a:extLst>
              <a:ext uri="{FF2B5EF4-FFF2-40B4-BE49-F238E27FC236}">
                <a16:creationId xmlns:a16="http://schemas.microsoft.com/office/drawing/2014/main" id="{A3A522C2-E83A-7061-1CE5-BD50B2B84354}"/>
              </a:ext>
            </a:extLst>
          </p:cNvPr>
          <p:cNvSpPr txBox="1"/>
          <p:nvPr/>
        </p:nvSpPr>
        <p:spPr>
          <a:xfrm>
            <a:off x="758741" y="982978"/>
            <a:ext cx="9436291" cy="546353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实时闭环编排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：在正念训练过程中，即使没有用户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query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输入，智能体也应能持续完成数据接收、工具调用、状态理解、反馈决策、反馈执行和反馈后观察。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低延时工具调用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：每轮分析和决策应设置明确时间上限，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EEG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特征分析、心率分析、信号质量检测和历史检索等工具应支持并行调用，避免反馈滞后于用户状态变化。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自适应反馈调度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：智能体不应被固定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18s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反馈周期约束，而应基于状态变化、趋势稳定性、置信度和干预必要性，决定何时反馈、延迟反馈或保持当前反馈状态。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多工具信号分析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：智能体应能调用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EEG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预处理、频域特征提取、时域趋势分析、心率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/HRV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分析、信号质量评估等工具，充分利用多维生理特征。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多模态状态理解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：智能体应综合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EEG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、心率、主观评分、信号质量、训练阶段和环境上下文，对用户当前正念状态形成结构化判断。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个体化记忆建模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：智能体应利用用户个人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baseline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、当前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session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轨迹、历史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session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表现和最近反馈结果，动态调整状态判断和反馈策略。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反馈效果评估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：每次反馈后，智能体应在后续时间窗口中评估用户状态是否改善、是否更稳定、是否出现更高唤醒，并据此调整后续反馈频率、强度和判断标准。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安全门控与中断机制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：当信号质量过低、设备异常、用户不适、课程结束、用户主动停止或实验员终止时，智能体应优先执行保守策略，并能安全退出实时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loop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分层数据存储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：原始 </a:t>
            </a:r>
            <a:r>
              <a:rPr lang="en-US" altLang="zh-CN" sz="1200" dirty="0">
                <a:solidFill>
                  <a:srgbClr val="111827"/>
                </a:solidFill>
                <a:latin typeface="PingFang SC"/>
                <a:ea typeface="PingFang SC"/>
              </a:rPr>
              <a:t>EEG/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心率数据应外部存储，窗口级特征和反馈事件结构化保存；智能体上下文只保留当前摘要、最近窗口和关键历史统计，并通过检索工具按需读取历史。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可审计决策输出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：每次决策应记录输入摘要、调用工具、关键证据、动作类型、反馈强度、置信度、理由标签、冷却时间和反馈后反应，便于复盘和实验分析。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阶段切换与报告生成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：训练结束后，智能体应从实时干预阶段切换到报告阶段，生成本次训练的状态变化历史、反馈事件统计、有效反馈比例、异常片段、用户表现总结和后续训练建议。</a:t>
            </a: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200" b="1" dirty="0">
                <a:solidFill>
                  <a:srgbClr val="111827"/>
                </a:solidFill>
                <a:latin typeface="PingFang SC"/>
                <a:ea typeface="PingFang SC"/>
              </a:rPr>
              <a:t>实验可验证性 </a:t>
            </a:r>
            <a:r>
              <a:rPr lang="zh-CN" altLang="en-US" sz="1200" dirty="0">
                <a:solidFill>
                  <a:srgbClr val="111827"/>
                </a:solidFill>
                <a:latin typeface="PingFang SC"/>
                <a:ea typeface="PingFang SC"/>
              </a:rPr>
              <a:t>：系统应导出完整的状态轨迹、工具调用记录、反馈决策日志和反馈后效果指标，用于离线回放分析和两天交叉在线实验比较。</a:t>
            </a:r>
            <a:endParaRPr lang="zh-CN" sz="1200" dirty="0">
              <a:solidFill>
                <a:srgbClr val="111827"/>
              </a:solidFill>
              <a:latin typeface="PingFang SC"/>
              <a:ea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70318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3DD7245A-2AF5-A478-4886-9A198C19EBFB}"/>
              </a:ext>
            </a:extLst>
          </p:cNvPr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altLang="en-US" sz="2250" b="1" dirty="0">
                <a:solidFill>
                  <a:srgbClr val="153B5C"/>
                </a:solidFill>
                <a:latin typeface="PingFang SC"/>
                <a:ea typeface="PingFang SC"/>
              </a:rPr>
              <a:t>智能体设计</a:t>
            </a:r>
            <a:endParaRPr lang="zh-CN" sz="2250" b="1" dirty="0">
              <a:solidFill>
                <a:srgbClr val="153B5C"/>
              </a:solidFill>
              <a:latin typeface="PingFang SC"/>
              <a:ea typeface="PingFang SC"/>
            </a:endParaRPr>
          </a:p>
        </p:txBody>
      </p:sp>
      <p:cxnSp>
        <p:nvCxnSpPr>
          <p:cNvPr id="3" name="Line 12">
            <a:extLst>
              <a:ext uri="{FF2B5EF4-FFF2-40B4-BE49-F238E27FC236}">
                <a16:creationId xmlns:a16="http://schemas.microsoft.com/office/drawing/2014/main" id="{72CA019A-C381-3C32-07A5-A7F2F8094125}"/>
              </a:ext>
            </a:extLst>
          </p:cNvPr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ACF8D6C-4756-992C-A796-8F51182C0670}"/>
              </a:ext>
            </a:extLst>
          </p:cNvPr>
          <p:cNvSpPr txBox="1"/>
          <p:nvPr/>
        </p:nvSpPr>
        <p:spPr>
          <a:xfrm>
            <a:off x="502920" y="80467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用图的工作流编排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811F2FF-53C8-D40B-5C7B-6BF350733D65}"/>
              </a:ext>
            </a:extLst>
          </p:cNvPr>
          <p:cNvSpPr/>
          <p:nvPr/>
        </p:nvSpPr>
        <p:spPr>
          <a:xfrm>
            <a:off x="1124608" y="1872310"/>
            <a:ext cx="956441" cy="5885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开始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0D9D015-84F7-CEE9-067E-940ED08F5E58}"/>
              </a:ext>
            </a:extLst>
          </p:cNvPr>
          <p:cNvSpPr/>
          <p:nvPr/>
        </p:nvSpPr>
        <p:spPr>
          <a:xfrm>
            <a:off x="3168869" y="1709400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收集数据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E2909A7-CF51-C565-117B-407985061B38}"/>
              </a:ext>
            </a:extLst>
          </p:cNvPr>
          <p:cNvSpPr/>
          <p:nvPr/>
        </p:nvSpPr>
        <p:spPr>
          <a:xfrm>
            <a:off x="4950372" y="1709400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特征分析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EA0F32F-20EF-C2D3-001D-CD154EF61D7F}"/>
              </a:ext>
            </a:extLst>
          </p:cNvPr>
          <p:cNvSpPr/>
          <p:nvPr/>
        </p:nvSpPr>
        <p:spPr>
          <a:xfrm>
            <a:off x="9002110" y="1709400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LLM</a:t>
            </a:r>
            <a:r>
              <a:rPr kumimoji="1" lang="zh-CN" altLang="en-US" dirty="0"/>
              <a:t>调用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5D1115E-A755-71B4-1408-6E23A60A8A75}"/>
              </a:ext>
            </a:extLst>
          </p:cNvPr>
          <p:cNvSpPr/>
          <p:nvPr/>
        </p:nvSpPr>
        <p:spPr>
          <a:xfrm>
            <a:off x="2711670" y="1572766"/>
            <a:ext cx="3552496" cy="1289830"/>
          </a:xfrm>
          <a:prstGeom prst="round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BEB404-7128-AEA9-33A1-1BF5026536AC}"/>
              </a:ext>
            </a:extLst>
          </p:cNvPr>
          <p:cNvSpPr txBox="1"/>
          <p:nvPr/>
        </p:nvSpPr>
        <p:spPr>
          <a:xfrm>
            <a:off x="2829337" y="1203433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Baseline</a:t>
            </a:r>
            <a:r>
              <a:rPr kumimoji="1" lang="zh-CN" altLang="en-US" dirty="0"/>
              <a:t>采集子图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0748465-AAA6-4BDE-D9F3-3CE7DF35801D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965435" y="2166600"/>
            <a:ext cx="12034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C8D7C28-7009-7AC6-C60F-C822816A9D23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4125309" y="2166600"/>
            <a:ext cx="8250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A86AC95-A0FF-05C9-D2C3-8756FB5A9335}"/>
              </a:ext>
            </a:extLst>
          </p:cNvPr>
          <p:cNvSpPr/>
          <p:nvPr/>
        </p:nvSpPr>
        <p:spPr>
          <a:xfrm>
            <a:off x="7369812" y="1495407"/>
            <a:ext cx="4517388" cy="2771794"/>
          </a:xfrm>
          <a:prstGeom prst="round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AA45546-64E9-F1AE-6DF2-A74A09007288}"/>
              </a:ext>
            </a:extLst>
          </p:cNvPr>
          <p:cNvSpPr/>
          <p:nvPr/>
        </p:nvSpPr>
        <p:spPr>
          <a:xfrm>
            <a:off x="10741572" y="1709399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工具调用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71840E57-C47D-8BEA-3A68-29D6E3174772}"/>
              </a:ext>
            </a:extLst>
          </p:cNvPr>
          <p:cNvCxnSpPr>
            <a:cxnSpLocks/>
            <a:stCxn id="9" idx="6"/>
            <a:endCxn id="23" idx="2"/>
          </p:cNvCxnSpPr>
          <p:nvPr/>
        </p:nvCxnSpPr>
        <p:spPr>
          <a:xfrm flipV="1">
            <a:off x="9958550" y="2166599"/>
            <a:ext cx="78302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1F4B7171-4691-1DBD-3021-4BABED1F4016}"/>
              </a:ext>
            </a:extLst>
          </p:cNvPr>
          <p:cNvSpPr/>
          <p:nvPr/>
        </p:nvSpPr>
        <p:spPr>
          <a:xfrm>
            <a:off x="10741572" y="3119252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特征整合</a:t>
            </a: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C4CB5421-AE70-4CD1-149A-27267C39082F}"/>
              </a:ext>
            </a:extLst>
          </p:cNvPr>
          <p:cNvCxnSpPr>
            <a:stCxn id="23" idx="4"/>
            <a:endCxn id="27" idx="0"/>
          </p:cNvCxnSpPr>
          <p:nvPr/>
        </p:nvCxnSpPr>
        <p:spPr>
          <a:xfrm>
            <a:off x="11219792" y="2623799"/>
            <a:ext cx="0" cy="495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7B1F1850-B034-6B27-58E0-FC1AD7898BA0}"/>
              </a:ext>
            </a:extLst>
          </p:cNvPr>
          <p:cNvCxnSpPr>
            <a:stCxn id="27" idx="1"/>
            <a:endCxn id="9" idx="5"/>
          </p:cNvCxnSpPr>
          <p:nvPr/>
        </p:nvCxnSpPr>
        <p:spPr>
          <a:xfrm flipH="1" flipV="1">
            <a:off x="9818483" y="2489889"/>
            <a:ext cx="1063156" cy="763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DF97C518-A51A-8C11-2BE4-E1A36E4F8754}"/>
              </a:ext>
            </a:extLst>
          </p:cNvPr>
          <p:cNvSpPr/>
          <p:nvPr/>
        </p:nvSpPr>
        <p:spPr>
          <a:xfrm>
            <a:off x="9002110" y="3119252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反馈决策</a:t>
            </a: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E08124E-B401-880B-15D1-7EBDCAE72F7E}"/>
              </a:ext>
            </a:extLst>
          </p:cNvPr>
          <p:cNvCxnSpPr>
            <a:stCxn id="9" idx="4"/>
            <a:endCxn id="32" idx="0"/>
          </p:cNvCxnSpPr>
          <p:nvPr/>
        </p:nvCxnSpPr>
        <p:spPr>
          <a:xfrm>
            <a:off x="9480330" y="2623800"/>
            <a:ext cx="0" cy="495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2AF72DB-7088-8C6F-CAFA-5FB3A774F331}"/>
              </a:ext>
            </a:extLst>
          </p:cNvPr>
          <p:cNvSpPr txBox="1"/>
          <p:nvPr/>
        </p:nvSpPr>
        <p:spPr>
          <a:xfrm>
            <a:off x="7337141" y="102928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闭环反馈决策子图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84C5B79-8AA3-C1B9-A5F7-E53CA9B82F62}"/>
              </a:ext>
            </a:extLst>
          </p:cNvPr>
          <p:cNvSpPr/>
          <p:nvPr/>
        </p:nvSpPr>
        <p:spPr>
          <a:xfrm>
            <a:off x="2711670" y="3713086"/>
            <a:ext cx="3552496" cy="1289830"/>
          </a:xfrm>
          <a:prstGeom prst="round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95997D5-0552-8489-BE0E-F8D419403E50}"/>
              </a:ext>
            </a:extLst>
          </p:cNvPr>
          <p:cNvSpPr/>
          <p:nvPr/>
        </p:nvSpPr>
        <p:spPr>
          <a:xfrm>
            <a:off x="4950372" y="3913627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报告生成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2B14B6A-33D8-0036-3B78-DF1BD760C2BA}"/>
              </a:ext>
            </a:extLst>
          </p:cNvPr>
          <p:cNvSpPr/>
          <p:nvPr/>
        </p:nvSpPr>
        <p:spPr>
          <a:xfrm>
            <a:off x="3168869" y="3913627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用户对话</a:t>
            </a:r>
          </a:p>
        </p:txBody>
      </p: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43E42B78-4D9A-9B41-1FF4-75A27E04334F}"/>
              </a:ext>
            </a:extLst>
          </p:cNvPr>
          <p:cNvCxnSpPr>
            <a:stCxn id="9" idx="3"/>
            <a:endCxn id="38" idx="6"/>
          </p:cNvCxnSpPr>
          <p:nvPr/>
        </p:nvCxnSpPr>
        <p:spPr>
          <a:xfrm flipH="1">
            <a:off x="5906812" y="2489889"/>
            <a:ext cx="3235365" cy="1880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7414C004-006F-89CF-FA4F-0941A2C275A7}"/>
              </a:ext>
            </a:extLst>
          </p:cNvPr>
          <p:cNvCxnSpPr>
            <a:cxnSpLocks/>
            <a:stCxn id="38" idx="2"/>
            <a:endCxn id="39" idx="6"/>
          </p:cNvCxnSpPr>
          <p:nvPr/>
        </p:nvCxnSpPr>
        <p:spPr>
          <a:xfrm flipH="1">
            <a:off x="4125309" y="4370827"/>
            <a:ext cx="8250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A02C09CB-1EB9-62B9-4933-CB75A35F09C8}"/>
              </a:ext>
            </a:extLst>
          </p:cNvPr>
          <p:cNvSpPr/>
          <p:nvPr/>
        </p:nvSpPr>
        <p:spPr>
          <a:xfrm>
            <a:off x="1124608" y="4076537"/>
            <a:ext cx="956441" cy="5885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结束</a:t>
            </a: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90F47DD8-F365-8B7C-4889-16214C3A07E1}"/>
              </a:ext>
            </a:extLst>
          </p:cNvPr>
          <p:cNvCxnSpPr>
            <a:stCxn id="39" idx="2"/>
            <a:endCxn id="44" idx="6"/>
          </p:cNvCxnSpPr>
          <p:nvPr/>
        </p:nvCxnSpPr>
        <p:spPr>
          <a:xfrm flipH="1">
            <a:off x="2081049" y="4370827"/>
            <a:ext cx="1087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4892139-313C-1B5C-1335-EABFDCE895DE}"/>
              </a:ext>
            </a:extLst>
          </p:cNvPr>
          <p:cNvSpPr txBox="1"/>
          <p:nvPr/>
        </p:nvSpPr>
        <p:spPr>
          <a:xfrm>
            <a:off x="2633458" y="329982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正念报告和对话子图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B4F8AD8F-E654-294D-D7AC-F14A67C7F560}"/>
              </a:ext>
            </a:extLst>
          </p:cNvPr>
          <p:cNvSpPr/>
          <p:nvPr/>
        </p:nvSpPr>
        <p:spPr>
          <a:xfrm>
            <a:off x="7707741" y="1709399"/>
            <a:ext cx="95644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收集数据</a:t>
            </a:r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4C5E9CEA-D993-E22C-37AF-96D2A410B513}"/>
              </a:ext>
            </a:extLst>
          </p:cNvPr>
          <p:cNvCxnSpPr>
            <a:stCxn id="8" idx="6"/>
            <a:endCxn id="52" idx="2"/>
          </p:cNvCxnSpPr>
          <p:nvPr/>
        </p:nvCxnSpPr>
        <p:spPr>
          <a:xfrm flipV="1">
            <a:off x="5906812" y="2166599"/>
            <a:ext cx="18009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EA4883A3-865D-4AF9-3F97-2C75AA7E0C10}"/>
              </a:ext>
            </a:extLst>
          </p:cNvPr>
          <p:cNvCxnSpPr>
            <a:stCxn id="52" idx="6"/>
            <a:endCxn id="9" idx="2"/>
          </p:cNvCxnSpPr>
          <p:nvPr/>
        </p:nvCxnSpPr>
        <p:spPr>
          <a:xfrm>
            <a:off x="8664181" y="2166599"/>
            <a:ext cx="3379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D3473F3E-EDBC-3A8C-F3AE-6A78AB0EC734}"/>
              </a:ext>
            </a:extLst>
          </p:cNvPr>
          <p:cNvSpPr txBox="1"/>
          <p:nvPr/>
        </p:nvSpPr>
        <p:spPr>
          <a:xfrm>
            <a:off x="1124608" y="5529702"/>
            <a:ext cx="975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这里的逻辑还没想好，每次会有新的</a:t>
            </a:r>
            <a:r>
              <a:rPr kumimoji="1" lang="en-US" altLang="zh-CN" dirty="0"/>
              <a:t>1.8s</a:t>
            </a:r>
            <a:r>
              <a:rPr kumimoji="1" lang="zh-CN" altLang="en-US" dirty="0"/>
              <a:t>的数据进来，保存到一个</a:t>
            </a:r>
            <a:r>
              <a:rPr kumimoji="1" lang="en-US" altLang="zh-CN" dirty="0" err="1"/>
              <a:t>npy</a:t>
            </a:r>
            <a:r>
              <a:rPr kumimoji="1" lang="zh-CN" altLang="en-US" dirty="0"/>
              <a:t>里面。</a:t>
            </a:r>
            <a:endParaRPr kumimoji="1" lang="en-US" altLang="zh-CN" dirty="0"/>
          </a:p>
          <a:p>
            <a:r>
              <a:rPr kumimoji="1" lang="zh-CN" altLang="en-US" dirty="0"/>
              <a:t>智能体每次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分析最近的</a:t>
            </a:r>
            <a:r>
              <a:rPr kumimoji="1" lang="en-US" altLang="zh-CN" dirty="0"/>
              <a:t>18s</a:t>
            </a:r>
            <a:r>
              <a:rPr kumimoji="1" lang="zh-CN" altLang="en-US" dirty="0"/>
              <a:t>数据，决定是否给予反馈？还是不设置固定的时间窗口，让智能体自己判断？</a:t>
            </a:r>
            <a:endParaRPr kumimoji="1" lang="en-US" altLang="zh-CN" dirty="0"/>
          </a:p>
          <a:p>
            <a:r>
              <a:rPr kumimoji="1" lang="en-US" altLang="zh-CN" dirty="0"/>
              <a:t>Baseline</a:t>
            </a:r>
            <a:r>
              <a:rPr kumimoji="1" lang="zh-CN" altLang="en-US" dirty="0"/>
              <a:t>的数据怎么留存。应该先计算一次</a:t>
            </a:r>
            <a:r>
              <a:rPr kumimoji="1" lang="en-US" altLang="zh-CN" dirty="0"/>
              <a:t>baseline</a:t>
            </a:r>
            <a:r>
              <a:rPr kumimoji="1" lang="zh-CN" altLang="en-US" dirty="0"/>
              <a:t>，之后就不用反复计算了。</a:t>
            </a:r>
          </a:p>
        </p:txBody>
      </p:sp>
    </p:spTree>
    <p:extLst>
      <p:ext uri="{BB962C8B-B14F-4D97-AF65-F5344CB8AC3E}">
        <p14:creationId xmlns:p14="http://schemas.microsoft.com/office/powerpoint/2010/main" val="976279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C90A-2AA3-D328-68AA-A293434AF535}"/>
            </a:ext>
          </a:extLst>
        </p:cNvPr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7A21E0E9-266F-C1E1-C17F-FDC37B490C0E}"/>
              </a:ext>
            </a:extLst>
          </p:cNvPr>
          <p:cNvSpPr txBox="1"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0000" lnSpcReduction="20000"/>
          </a:bodyPr>
          <a:lstStyle/>
          <a:p>
            <a:pPr algn="l"/>
            <a:r>
              <a:rPr lang="zh-CN" altLang="en-US" sz="2250" b="1" dirty="0">
                <a:solidFill>
                  <a:srgbClr val="153B5C"/>
                </a:solidFill>
                <a:latin typeface="PingFang SC"/>
                <a:ea typeface="PingFang SC"/>
              </a:rPr>
              <a:t>问题</a:t>
            </a:r>
            <a:endParaRPr lang="zh-CN" sz="2250" b="1" dirty="0">
              <a:solidFill>
                <a:srgbClr val="153B5C"/>
              </a:solidFill>
              <a:latin typeface="PingFang SC"/>
              <a:ea typeface="PingFang SC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95AEE0C-B7E3-7E46-6B49-4C4A2F71D3B7}"/>
              </a:ext>
            </a:extLst>
          </p:cNvPr>
          <p:cNvSpPr txBox="1"/>
          <p:nvPr/>
        </p:nvSpPr>
        <p:spPr>
          <a:xfrm>
            <a:off x="8869680" y="21945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77500" lnSpcReduction="20000"/>
          </a:bodyPr>
          <a:lstStyle/>
          <a:p>
            <a:pPr algn="r"/>
            <a:r>
              <a:rPr lang="zh-CN" sz="1050">
                <a:solidFill>
                  <a:srgbClr val="4B5563"/>
                </a:solidFill>
                <a:latin typeface="PingFang SC"/>
                <a:ea typeface="PingFang SC"/>
              </a:rPr>
              <a:t>Limitation</a:t>
            </a:r>
          </a:p>
        </p:txBody>
      </p:sp>
      <p:cxnSp>
        <p:nvCxnSpPr>
          <p:cNvPr id="12" name="Line 12">
            <a:extLst>
              <a:ext uri="{FF2B5EF4-FFF2-40B4-BE49-F238E27FC236}">
                <a16:creationId xmlns:a16="http://schemas.microsoft.com/office/drawing/2014/main" id="{04B735A7-10D1-E5CA-34F2-72254A089289}"/>
              </a:ext>
            </a:extLst>
          </p:cNvPr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 w="11000">
            <a:solidFill>
              <a:srgbClr val="D9DEE7"/>
            </a:solidFill>
          </a:ln>
        </p:spPr>
      </p:cxnSp>
      <p:sp>
        <p:nvSpPr>
          <p:cNvPr id="13" name="TextBox 13">
            <a:extLst>
              <a:ext uri="{FF2B5EF4-FFF2-40B4-BE49-F238E27FC236}">
                <a16:creationId xmlns:a16="http://schemas.microsoft.com/office/drawing/2014/main" id="{CC730EF3-0217-91D9-3742-ED9C139F3F47}"/>
              </a:ext>
            </a:extLst>
          </p:cNvPr>
          <p:cNvSpPr txBox="1"/>
          <p:nvPr/>
        </p:nvSpPr>
        <p:spPr>
          <a:xfrm>
            <a:off x="10881360" y="64465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 fontScale="40000" lnSpcReduction="20000"/>
          </a:bodyPr>
          <a:lstStyle/>
          <a:p>
            <a:pPr algn="r"/>
            <a:r>
              <a:rPr lang="zh-CN" sz="950">
                <a:solidFill>
                  <a:srgbClr val="8A93A3"/>
                </a:solidFill>
                <a:latin typeface="PingFang SC"/>
                <a:ea typeface="PingFang SC"/>
              </a:rPr>
              <a:t>8/14</a:t>
            </a:r>
          </a:p>
        </p:txBody>
      </p:sp>
      <p:cxnSp>
        <p:nvCxnSpPr>
          <p:cNvPr id="2" name="Line 15">
            <a:extLst>
              <a:ext uri="{FF2B5EF4-FFF2-40B4-BE49-F238E27FC236}">
                <a16:creationId xmlns:a16="http://schemas.microsoft.com/office/drawing/2014/main" id="{8C321EC4-E703-F609-2EB8-04078E46DD03}"/>
              </a:ext>
            </a:extLst>
          </p:cNvPr>
          <p:cNvCxnSpPr>
            <a:cxnSpLocks/>
          </p:cNvCxnSpPr>
          <p:nvPr/>
        </p:nvCxnSpPr>
        <p:spPr>
          <a:xfrm>
            <a:off x="563705" y="1215643"/>
            <a:ext cx="0" cy="1768857"/>
          </a:xfrm>
          <a:prstGeom prst="line">
            <a:avLst/>
          </a:prstGeom>
          <a:ln w="18000">
            <a:solidFill>
              <a:srgbClr val="B56A16"/>
            </a:solidFill>
          </a:ln>
        </p:spPr>
      </p:cxnSp>
      <p:sp>
        <p:nvSpPr>
          <p:cNvPr id="3" name="TextBox 16">
            <a:extLst>
              <a:ext uri="{FF2B5EF4-FFF2-40B4-BE49-F238E27FC236}">
                <a16:creationId xmlns:a16="http://schemas.microsoft.com/office/drawing/2014/main" id="{B1701FE7-DB04-B022-DDE1-55DEF83A15D0}"/>
              </a:ext>
            </a:extLst>
          </p:cNvPr>
          <p:cNvSpPr txBox="1"/>
          <p:nvPr/>
        </p:nvSpPr>
        <p:spPr>
          <a:xfrm>
            <a:off x="764873" y="1197355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pPr algn="l"/>
            <a:r>
              <a:rPr lang="zh-CN" altLang="en-US" sz="1650" b="1" dirty="0">
                <a:solidFill>
                  <a:srgbClr val="B56A16"/>
                </a:solidFill>
                <a:latin typeface="PingFang SC"/>
                <a:ea typeface="PingFang SC"/>
              </a:rPr>
              <a:t>智能体决策的问题</a:t>
            </a:r>
            <a:endParaRPr lang="zh-CN" sz="1650" b="1" dirty="0">
              <a:solidFill>
                <a:srgbClr val="B56A16"/>
              </a:solidFill>
              <a:latin typeface="PingFang SC"/>
              <a:ea typeface="PingFang SC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337355AB-A17F-F75E-9ADB-3A3593799E0F}"/>
              </a:ext>
            </a:extLst>
          </p:cNvPr>
          <p:cNvSpPr txBox="1"/>
          <p:nvPr/>
        </p:nvSpPr>
        <p:spPr>
          <a:xfrm>
            <a:off x="764871" y="1718563"/>
            <a:ext cx="7733611" cy="2423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用</a:t>
            </a:r>
            <a:r>
              <a:rPr lang="zh-CN" altLang="en-US" sz="1600" b="1" dirty="0">
                <a:solidFill>
                  <a:srgbClr val="111827"/>
                </a:solidFill>
                <a:latin typeface="PingFang SC"/>
                <a:ea typeface="PingFang SC"/>
              </a:rPr>
              <a:t>什么指标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证明智能体决策带来的</a:t>
            </a:r>
            <a:r>
              <a:rPr lang="zh-CN" altLang="en-US" sz="1600" b="1" dirty="0">
                <a:solidFill>
                  <a:srgbClr val="111827"/>
                </a:solidFill>
                <a:latin typeface="PingFang SC"/>
                <a:ea typeface="PingFang SC"/>
              </a:rPr>
              <a:t>干预效果更好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？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lvl="3" algn="l">
              <a:spcBef>
                <a:spcPts val="600"/>
              </a:spcBef>
              <a:buSzPct val="80000"/>
            </a:pP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	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用户打分？上升趋势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(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这个不确定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)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？同一受试者的对比实验？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时间戳怎么对齐。因为应该是服务器上部署</a:t>
            </a:r>
            <a:r>
              <a:rPr lang="en-US" altLang="zh-CN" sz="1600" dirty="0" err="1">
                <a:solidFill>
                  <a:srgbClr val="111827"/>
                </a:solidFill>
                <a:latin typeface="PingFang SC"/>
                <a:ea typeface="PingFang SC"/>
              </a:rPr>
              <a:t>llm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，本地调用。或者有没有一种方式，用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http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接口的方式去调用服务器上的</a:t>
            </a:r>
            <a:r>
              <a:rPr lang="en-US" altLang="zh-CN" sz="1600" dirty="0" err="1">
                <a:solidFill>
                  <a:srgbClr val="111827"/>
                </a:solidFill>
                <a:latin typeface="PingFang SC"/>
                <a:ea typeface="PingFang SC"/>
              </a:rPr>
              <a:t>llm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，或者就用</a:t>
            </a:r>
            <a:r>
              <a:rPr lang="en-US" altLang="zh-CN" sz="1600" dirty="0" err="1">
                <a:solidFill>
                  <a:srgbClr val="111827"/>
                </a:solidFill>
                <a:latin typeface="PingFang SC"/>
                <a:ea typeface="PingFang SC"/>
              </a:rPr>
              <a:t>api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 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key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algn="l">
              <a:spcBef>
                <a:spcPts val="600"/>
              </a:spcBef>
              <a:buSzPct val="80000"/>
            </a:pP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endParaRPr lang="zh-CN" sz="1600" dirty="0">
              <a:solidFill>
                <a:srgbClr val="111827"/>
              </a:solidFill>
              <a:latin typeface="PingFang SC"/>
              <a:ea typeface="PingFang SC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7498669D-4C62-A8F0-042B-B7316A155A0D}"/>
              </a:ext>
            </a:extLst>
          </p:cNvPr>
          <p:cNvSpPr txBox="1"/>
          <p:nvPr/>
        </p:nvSpPr>
        <p:spPr>
          <a:xfrm>
            <a:off x="764871" y="3990337"/>
            <a:ext cx="7733611" cy="2423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先设计智能体架构，跑通基本流程，控制延时。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用现有数据离线验证，测试反馈效果。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对比实验，一次公式一次智能体，分别记录量表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/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数据</a:t>
            </a:r>
            <a:r>
              <a:rPr lang="en-US" altLang="zh-CN" sz="1600" dirty="0">
                <a:solidFill>
                  <a:srgbClr val="111827"/>
                </a:solidFill>
                <a:latin typeface="PingFang SC"/>
                <a:ea typeface="PingFang SC"/>
              </a:rPr>
              <a:t>/</a:t>
            </a:r>
            <a:r>
              <a:rPr lang="zh-CN" altLang="en-US" sz="1600" dirty="0">
                <a:solidFill>
                  <a:srgbClr val="111827"/>
                </a:solidFill>
                <a:latin typeface="PingFang SC"/>
                <a:ea typeface="PingFang SC"/>
              </a:rPr>
              <a:t>用户评价。</a:t>
            </a:r>
            <a:endParaRPr lang="en-US" altLang="zh-CN" sz="1600" dirty="0">
              <a:solidFill>
                <a:srgbClr val="111827"/>
              </a:solidFill>
              <a:latin typeface="PingFang SC"/>
              <a:ea typeface="PingFang SC"/>
            </a:endParaRPr>
          </a:p>
          <a:p>
            <a:pPr marL="285750" indent="-285750" algn="l">
              <a:spcBef>
                <a:spcPts val="600"/>
              </a:spcBef>
              <a:buSzPct val="80000"/>
              <a:buFont typeface="Wingdings" pitchFamily="2" charset="2"/>
              <a:buChar char="l"/>
            </a:pPr>
            <a:endParaRPr lang="zh-CN" sz="1600" dirty="0">
              <a:solidFill>
                <a:srgbClr val="111827"/>
              </a:solidFill>
              <a:latin typeface="PingFang SC"/>
              <a:ea typeface="PingFang SC"/>
            </a:endParaRPr>
          </a:p>
        </p:txBody>
      </p:sp>
      <p:cxnSp>
        <p:nvCxnSpPr>
          <p:cNvPr id="7" name="Line 15">
            <a:extLst>
              <a:ext uri="{FF2B5EF4-FFF2-40B4-BE49-F238E27FC236}">
                <a16:creationId xmlns:a16="http://schemas.microsoft.com/office/drawing/2014/main" id="{0123A611-7891-66F4-7216-159E1794110A}"/>
              </a:ext>
            </a:extLst>
          </p:cNvPr>
          <p:cNvCxnSpPr>
            <a:cxnSpLocks/>
          </p:cNvCxnSpPr>
          <p:nvPr/>
        </p:nvCxnSpPr>
        <p:spPr>
          <a:xfrm>
            <a:off x="563705" y="3581401"/>
            <a:ext cx="0" cy="1768857"/>
          </a:xfrm>
          <a:prstGeom prst="line">
            <a:avLst/>
          </a:prstGeom>
          <a:ln w="18000">
            <a:solidFill>
              <a:srgbClr val="B56A16"/>
            </a:solidFill>
          </a:ln>
        </p:spPr>
      </p:cxnSp>
      <p:sp>
        <p:nvSpPr>
          <p:cNvPr id="8" name="TextBox 16">
            <a:extLst>
              <a:ext uri="{FF2B5EF4-FFF2-40B4-BE49-F238E27FC236}">
                <a16:creationId xmlns:a16="http://schemas.microsoft.com/office/drawing/2014/main" id="{19122075-DD86-ADE8-57B6-419053AC7268}"/>
              </a:ext>
            </a:extLst>
          </p:cNvPr>
          <p:cNvSpPr txBox="1"/>
          <p:nvPr/>
        </p:nvSpPr>
        <p:spPr>
          <a:xfrm>
            <a:off x="764873" y="3563113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Autofit/>
          </a:bodyPr>
          <a:lstStyle/>
          <a:p>
            <a:pPr algn="l"/>
            <a:r>
              <a:rPr lang="zh-CN" altLang="en-US" sz="1650" b="1" dirty="0">
                <a:solidFill>
                  <a:srgbClr val="B56A16"/>
                </a:solidFill>
                <a:latin typeface="PingFang SC"/>
                <a:ea typeface="PingFang SC"/>
              </a:rPr>
              <a:t>工作流</a:t>
            </a:r>
            <a:endParaRPr lang="zh-CN" sz="1650" b="1" dirty="0">
              <a:solidFill>
                <a:srgbClr val="B56A16"/>
              </a:solidFill>
              <a:latin typeface="PingFang SC"/>
              <a:ea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0445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1313</Words>
  <Application>Microsoft Macintosh PowerPoint</Application>
  <PresentationFormat>宽屏</PresentationFormat>
  <Paragraphs>97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PingFang SC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从规则闭环到智能体驱动的 EEG-VR 正念干预</dc:title>
  <dc:creator>TRAE</dc:creator>
  <cp:lastModifiedBy>吴晨 Chen Wu</cp:lastModifiedBy>
  <cp:revision>6</cp:revision>
  <dcterms:created xsi:type="dcterms:W3CDTF">2026-08-27T05:22:10Z</dcterms:created>
  <dcterms:modified xsi:type="dcterms:W3CDTF">2026-08-27T09:19:20Z</dcterms:modified>
</cp:coreProperties>
</file>